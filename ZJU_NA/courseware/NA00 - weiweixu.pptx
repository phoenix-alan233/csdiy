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60" r:id="rId6"/>
    <p:sldId id="261" r:id="rId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80"/>
    <a:srgbClr val="FF3300"/>
    <a:srgbClr val="008000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88" d="100"/>
          <a:sy n="88" d="100"/>
        </p:scale>
        <p:origin x="123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A4AD4FD-F4D5-44EB-4535-D2892CAEDF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05871CF-84E3-8BC6-54FA-C53EBB69B0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A8A22E6-E974-D8C2-28AE-84900CBF1A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F5937F-C667-417B-81DF-6F155BD9ABC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6658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872D103-10F5-80A3-BE09-0520AF8EB6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71E89DE-F7CF-7015-DA48-4CEADC6735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090B7D3-A10E-3143-977D-E6981B58BF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04722D-687F-4559-B21A-41B8F49A9B4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7775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0DDFBC-B31B-0455-91AB-1E38A58ACE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4DAC44-B143-4FB3-81C4-1BD0A18580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4C7AA27-3FB7-E993-6035-B6C0C9CA81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470E05-893C-4A2A-BB25-E650331E97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9693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227743-49FF-97B1-F693-872FF3DDF6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4FE6D8-862F-CD4A-A07F-903704F188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42020D-302D-5499-F2E9-955D76F18C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9A1C71-B822-4640-B88B-232C81A81EB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592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09FE3C7-2C2F-2F09-71AD-8D362CA1D9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EF72101-0BC6-4615-A0BE-C50787F7C4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64CFDEA-F599-4D1E-AC2C-109FBF37A9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9AF3A5-44B9-4E01-9466-5E1C1B19A4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8714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7F05FC3-31AE-13CE-B03C-BCE6777DF2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FC68F5D-B2E3-8DAF-B125-5A4F8BB50F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69F654D-D86C-1DA4-3A93-C37B7ACB60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97BEEE-C207-40A5-9B4F-58925F88DCB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6694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8651B80-65FE-5CA5-A1CF-21E4167405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BA09AAE-18CD-753F-EE75-E940E5B73A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FA4F6A0-268A-E0A7-F73A-51A50666C5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513F75-5B66-4EAC-8073-411BF7EB55F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2505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6B7C89-4489-DA93-FB31-FF45E8A907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CFF27A-2541-1980-7C19-9D744228F7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16B4E6-4E40-8C89-0087-854B0AA63C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8BF088-3A99-4D5B-A235-F2DD022AA8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3584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E64957-558E-C16D-5FD5-9F7804AEAE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CC0F8E-20C0-5C4E-74ED-A0562F185B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B31AD3-3929-03B3-21E0-06B2EA9FE9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0E66A5-1018-4059-89ED-9CBDB04BD39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71656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911153E-1BFC-5F2F-CB49-883444E02D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84EB36E-0E40-EBBC-EB0E-E473F25301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E5861CE-1ED8-C03C-9641-DF9D753824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9673D1-B487-42C6-8A0C-17D87C31F46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8100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4CFAB76-ABC8-C6A1-C9DA-82DD6F58BD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8C4491A-66F4-9863-FC46-9F3A084DE8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316080B-D5FE-A4D1-219C-A997034D5D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FC80CA-3242-42AF-9E4C-4C001FF07AF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7298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99D1334-1EE3-1EED-399A-64DE5CD958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D0E634E-CDB2-4BD3-58CF-88B315D12D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07C1817-8A38-A738-6992-05FB9B5E581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07EC260-C546-281F-206F-E9C95F68AA0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FD69265-7B85-EE78-572E-4DD7EB0A3CD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55ED8A35-130A-421C-AAC0-7A61E050D0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42B91B9-C64B-175A-39F0-1A9197A7345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304800"/>
            <a:ext cx="7772400" cy="190500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数 值 分 析</a:t>
            </a:r>
            <a:b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</a:br>
            <a:r>
              <a:rPr lang="en-US" altLang="zh-CN" b="1">
                <a:solidFill>
                  <a:srgbClr val="008000"/>
                </a:solidFill>
                <a:latin typeface="Arial" panose="020B0604020202020204" pitchFamily="34" charset="0"/>
                <a:ea typeface="楷体_GB2312" pitchFamily="49" charset="-122"/>
              </a:rPr>
              <a:t>Numerical  Analysis</a:t>
            </a:r>
            <a:endParaRPr lang="en-US" altLang="zh-CN">
              <a:solidFill>
                <a:srgbClr val="008000"/>
              </a:solidFill>
              <a:ea typeface="楷体_GB2312" pitchFamily="49" charset="-122"/>
            </a:endParaRP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FB4502E-6B89-4735-A390-DCFC88F4C3A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600200" y="2133600"/>
            <a:ext cx="6019800" cy="1028700"/>
          </a:xfrm>
        </p:spPr>
        <p:txBody>
          <a:bodyPr>
            <a:spAutoFit/>
          </a:bodyPr>
          <a:lstStyle/>
          <a:p>
            <a:pPr eaLnBrk="1" hangingPunct="1"/>
            <a:r>
              <a:rPr lang="zh-CN" altLang="en-US" b="1">
                <a:ea typeface="楷体_GB2312" pitchFamily="49" charset="-122"/>
              </a:rPr>
              <a:t>主讲教师： 许 威威 </a:t>
            </a:r>
          </a:p>
          <a:p>
            <a:pPr eaLnBrk="1" hangingPunct="1"/>
            <a:r>
              <a:rPr lang="en-US" altLang="zh-CN" sz="2400" b="1">
                <a:solidFill>
                  <a:srgbClr val="008000"/>
                </a:solidFill>
                <a:latin typeface="Arial" panose="020B0604020202020204" pitchFamily="34" charset="0"/>
                <a:ea typeface="楷体_GB2312" pitchFamily="49" charset="-122"/>
              </a:rPr>
              <a:t>Instructor:  Xu, Weiwei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B78FE299-4B1F-DEE4-F253-CA4B04CCF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3352800"/>
            <a:ext cx="6408738" cy="173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>
                <a:latin typeface="Arial" panose="020B0604020202020204" pitchFamily="34" charset="0"/>
                <a:ea typeface="楷体_GB2312" pitchFamily="49" charset="-122"/>
              </a:rPr>
              <a:t>E-mail:  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en-US" altLang="zh-CN" sz="2400" b="1">
                <a:latin typeface="Arial" panose="020B0604020202020204" pitchFamily="34" charset="0"/>
                <a:ea typeface="楷体_GB2312" pitchFamily="49" charset="-122"/>
              </a:rPr>
              <a:t>    </a:t>
            </a:r>
            <a:r>
              <a:rPr lang="en-US" altLang="zh-CN" sz="2000" b="1" u="sng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rPr>
              <a:t>xww@cad.zju.edu.cn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>
                <a:latin typeface="Arial" panose="020B0604020202020204" pitchFamily="34" charset="0"/>
                <a:ea typeface="楷体_GB2312" pitchFamily="49" charset="-122"/>
              </a:rPr>
              <a:t>Homepage: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rPr>
              <a:t>     </a:t>
            </a:r>
            <a:r>
              <a:rPr lang="en-US" altLang="zh-CN" sz="2000" b="1" u="sng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rPr>
              <a:t>http://www.cad.zju.edu.cn/home/wwxu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1" grpId="0" build="p" autoUpdateAnimBg="0" advAuto="0"/>
      <p:bldP spid="2052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>
            <a:extLst>
              <a:ext uri="{FF2B5EF4-FFF2-40B4-BE49-F238E27FC236}">
                <a16:creationId xmlns:a16="http://schemas.microsoft.com/office/drawing/2014/main" id="{2E2658A4-BAAA-C056-3524-CC18243F42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762000"/>
            <a:ext cx="8077200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&amp;"/>
            </a:pPr>
            <a:r>
              <a:rPr lang="en-US" altLang="zh-CN" b="1">
                <a:solidFill>
                  <a:schemeClr val="hlink"/>
                </a:solidFill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>
                <a:solidFill>
                  <a:schemeClr val="hlink"/>
                </a:solidFill>
                <a:ea typeface="楷体_GB2312" pitchFamily="49" charset="-122"/>
                <a:sym typeface="Symbol" panose="05050102010706020507" pitchFamily="18" charset="2"/>
              </a:rPr>
              <a:t>Text Book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zh-CN" sz="1000" b="1">
              <a:ea typeface="楷体_GB2312" pitchFamily="49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b="1">
                <a:latin typeface="Arial" panose="020B0604020202020204" pitchFamily="34" charset="0"/>
                <a:ea typeface="楷体_GB2312" pitchFamily="49" charset="-122"/>
                <a:sym typeface="Wingdings" panose="05000000000000000000" pitchFamily="2" charset="2"/>
              </a:rPr>
              <a:t>       Numerical Analysis  </a:t>
            </a:r>
            <a:r>
              <a:rPr lang="en-US" altLang="zh-CN" sz="2000" b="1">
                <a:latin typeface="Arial" panose="020B0604020202020204" pitchFamily="34" charset="0"/>
                <a:ea typeface="楷体_GB2312" pitchFamily="49" charset="-122"/>
                <a:sym typeface="Wingdings" panose="05000000000000000000" pitchFamily="2" charset="2"/>
              </a:rPr>
              <a:t>(Seventh Edition)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b="1">
                <a:latin typeface="Arial" panose="020B0604020202020204" pitchFamily="34" charset="0"/>
                <a:ea typeface="楷体_GB2312" pitchFamily="49" charset="-122"/>
                <a:sym typeface="Wingdings" panose="05000000000000000000" pitchFamily="2" charset="2"/>
              </a:rPr>
              <a:t>          </a:t>
            </a:r>
            <a:r>
              <a:rPr lang="zh-CN" altLang="en-US" sz="2400" b="1">
                <a:latin typeface="Arial" panose="020B0604020202020204" pitchFamily="34" charset="0"/>
                <a:ea typeface="楷体_GB2312" pitchFamily="49" charset="-122"/>
                <a:sym typeface="Wingdings" panose="05000000000000000000" pitchFamily="2" charset="2"/>
              </a:rPr>
              <a:t>数值分析</a:t>
            </a:r>
            <a:r>
              <a:rPr lang="zh-CN" altLang="en-US" sz="2000" b="1">
                <a:latin typeface="Arial" panose="020B0604020202020204" pitchFamily="34" charset="0"/>
                <a:ea typeface="楷体_GB2312" pitchFamily="49" charset="-122"/>
                <a:sym typeface="Wingdings" panose="05000000000000000000" pitchFamily="2" charset="2"/>
              </a:rPr>
              <a:t>  （第七版  影印版）</a:t>
            </a:r>
            <a:r>
              <a:rPr lang="zh-CN" altLang="en-US" sz="2000" b="1" i="1">
                <a:latin typeface="Arial" panose="020B0604020202020204" pitchFamily="34" charset="0"/>
                <a:ea typeface="楷体_GB2312" pitchFamily="49" charset="-122"/>
                <a:sym typeface="Wingdings" panose="05000000000000000000" pitchFamily="2" charset="2"/>
              </a:rPr>
              <a:t>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 sz="2000" b="1" i="1">
                <a:latin typeface="Arial" panose="020B0604020202020204" pitchFamily="34" charset="0"/>
                <a:ea typeface="楷体_GB2312" pitchFamily="49" charset="-122"/>
                <a:sym typeface="Wingdings" panose="05000000000000000000" pitchFamily="2" charset="2"/>
              </a:rPr>
              <a:t>          </a:t>
            </a:r>
            <a:r>
              <a:rPr lang="en-US" altLang="zh-CN" sz="2000" b="1" i="1">
                <a:ea typeface="楷体_GB2312" pitchFamily="49" charset="-122"/>
                <a:sym typeface="Wingdings" panose="05000000000000000000" pitchFamily="2" charset="2"/>
              </a:rPr>
              <a:t>Richard L. Burden &amp; J. Douglas Faires  </a:t>
            </a:r>
            <a:r>
              <a:rPr lang="zh-CN" altLang="en-US" sz="2000" b="1">
                <a:ea typeface="楷体_GB2312" pitchFamily="49" charset="-122"/>
                <a:sym typeface="Wingdings" panose="05000000000000000000" pitchFamily="2" charset="2"/>
              </a:rPr>
              <a:t>（高等教育出版社）</a:t>
            </a:r>
            <a:endParaRPr lang="zh-CN" altLang="zh-CN" sz="2400" b="1">
              <a:ea typeface="楷体_GB2312" pitchFamily="49" charset="-122"/>
              <a:sym typeface="Wingdings" panose="05000000000000000000" pitchFamily="2" charset="2"/>
            </a:endParaRPr>
          </a:p>
          <a:p>
            <a:pPr eaLnBrk="1" hangingPunct="1">
              <a:buFontTx/>
              <a:buNone/>
            </a:pPr>
            <a:r>
              <a:rPr lang="zh-CN" altLang="en-US" sz="2400" b="1">
                <a:ea typeface="楷体_GB2312" pitchFamily="49" charset="-122"/>
                <a:sym typeface="Symbol" panose="05050102010706020507" pitchFamily="18" charset="2"/>
              </a:rPr>
              <a:t>         </a:t>
            </a:r>
          </a:p>
        </p:txBody>
      </p:sp>
      <p:sp>
        <p:nvSpPr>
          <p:cNvPr id="3075" name="Text Box 3">
            <a:extLst>
              <a:ext uri="{FF2B5EF4-FFF2-40B4-BE49-F238E27FC236}">
                <a16:creationId xmlns:a16="http://schemas.microsoft.com/office/drawing/2014/main" id="{214EA24B-D550-F353-6D5E-7E03F9EDB6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124200"/>
            <a:ext cx="8218488" cy="243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60400" indent="-6604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30000"/>
              </a:spcAft>
              <a:buFont typeface="Wingdings" panose="05000000000000000000" pitchFamily="2" charset="2"/>
              <a:buChar char="&amp;"/>
            </a:pPr>
            <a:r>
              <a:rPr lang="en-US" altLang="zh-CN" sz="2800" b="1">
                <a:solidFill>
                  <a:schemeClr val="hlink"/>
                </a:solidFill>
                <a:ea typeface="楷体_GB2312" pitchFamily="49" charset="-122"/>
                <a:sym typeface="Symbol" panose="05050102010706020507" pitchFamily="18" charset="2"/>
              </a:rPr>
              <a:t>References</a:t>
            </a:r>
          </a:p>
          <a:p>
            <a:pPr eaLnBrk="1" hangingPunct="1">
              <a:spcAft>
                <a:spcPct val="20000"/>
              </a:spcAft>
              <a:buFontTx/>
              <a:buNone/>
            </a:pPr>
            <a:r>
              <a:rPr lang="en-US" altLang="zh-CN" sz="2400" b="1">
                <a:ea typeface="楷体_GB2312" pitchFamily="49" charset="-122"/>
                <a:sym typeface="Wingdings" panose="05000000000000000000" pitchFamily="2" charset="2"/>
              </a:rPr>
              <a:t> </a:t>
            </a:r>
            <a:r>
              <a:rPr lang="zh-CN" altLang="en-US" sz="2800" b="1">
                <a:latin typeface="Arial" panose="020B0604020202020204" pitchFamily="34" charset="0"/>
                <a:ea typeface="楷体_GB2312" pitchFamily="49" charset="-122"/>
                <a:sym typeface="Wingdings" panose="05000000000000000000" pitchFamily="2" charset="2"/>
              </a:rPr>
              <a:t>数值分析课程设计  </a:t>
            </a:r>
            <a:r>
              <a:rPr lang="zh-CN" altLang="en-US" sz="2000" b="1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陈越、童若锋 著</a:t>
            </a:r>
            <a:r>
              <a:rPr lang="zh-CN" altLang="en-US" sz="1800" b="1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（浙江大学出版社）</a:t>
            </a:r>
            <a:endParaRPr lang="zh-CN" altLang="en-US" sz="1800" b="1">
              <a:latin typeface="Arial" panose="020B0604020202020204" pitchFamily="34" charset="0"/>
              <a:ea typeface="楷体_GB2312" pitchFamily="49" charset="-122"/>
              <a:sym typeface="Wingdings" panose="05000000000000000000" pitchFamily="2" charset="2"/>
            </a:endParaRPr>
          </a:p>
          <a:p>
            <a:pPr eaLnBrk="1" hangingPunct="1">
              <a:spcAft>
                <a:spcPct val="20000"/>
              </a:spcAft>
              <a:buFontTx/>
              <a:buNone/>
            </a:pPr>
            <a:r>
              <a:rPr lang="zh-CN" altLang="en-US" sz="2400" b="1">
                <a:ea typeface="楷体_GB2312" pitchFamily="49" charset="-122"/>
                <a:sym typeface="Wingdings" panose="05000000000000000000" pitchFamily="2" charset="2"/>
              </a:rPr>
              <a:t> </a:t>
            </a:r>
            <a:r>
              <a:rPr lang="zh-CN" altLang="en-US" sz="2800" b="1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数值方法</a:t>
            </a:r>
            <a:r>
              <a:rPr lang="zh-CN" altLang="en-US" b="1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 </a:t>
            </a:r>
            <a:r>
              <a:rPr lang="zh-CN" altLang="en-US" sz="2000" b="1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金一庆、陈越</a:t>
            </a:r>
            <a:r>
              <a:rPr lang="zh-CN" altLang="en-US" sz="2400" b="1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  </a:t>
            </a:r>
            <a:r>
              <a:rPr lang="zh-CN" altLang="en-US" sz="1800" b="1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编著 （机械工业出版社）</a:t>
            </a:r>
            <a:endParaRPr lang="zh-CN" altLang="en-US" sz="2800" b="1">
              <a:latin typeface="Arial" panose="020B0604020202020204" pitchFamily="34" charset="0"/>
              <a:ea typeface="楷体_GB2312" pitchFamily="49" charset="-122"/>
              <a:sym typeface="Wingdings" panose="05000000000000000000" pitchFamily="2" charset="2"/>
            </a:endParaRPr>
          </a:p>
          <a:p>
            <a:pPr eaLnBrk="1" hangingPunct="1">
              <a:spcAft>
                <a:spcPct val="20000"/>
              </a:spcAft>
              <a:buFontTx/>
              <a:buNone/>
            </a:pPr>
            <a:r>
              <a:rPr lang="zh-CN" altLang="en-US" sz="2800" b="1">
                <a:latin typeface="Arial" panose="020B0604020202020204" pitchFamily="34" charset="0"/>
                <a:ea typeface="楷体_GB2312" pitchFamily="49" charset="-122"/>
                <a:sym typeface="Wingdings" panose="05000000000000000000" pitchFamily="2" charset="2"/>
              </a:rPr>
              <a:t> </a:t>
            </a:r>
            <a:r>
              <a:rPr lang="zh-CN" altLang="en-US" sz="2800" b="1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数值分析引论</a:t>
            </a:r>
            <a:r>
              <a:rPr lang="zh-CN" altLang="en-US" sz="2400" b="1">
                <a:sym typeface="Symbol" panose="05050102010706020507" pitchFamily="18" charset="2"/>
              </a:rPr>
              <a:t>  </a:t>
            </a:r>
            <a:r>
              <a:rPr lang="zh-CN" altLang="en-US" sz="2000" b="1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易大义、陈道琦  编著</a:t>
            </a:r>
            <a:r>
              <a:rPr lang="zh-CN" altLang="en-US" sz="2400" b="1">
                <a:sym typeface="Symbol" panose="05050102010706020507" pitchFamily="18" charset="2"/>
              </a:rPr>
              <a:t> </a:t>
            </a:r>
            <a:r>
              <a:rPr lang="zh-CN" altLang="en-US" sz="1800" b="1"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（浙江大学出版社）</a:t>
            </a:r>
          </a:p>
        </p:txBody>
      </p:sp>
      <p:pic>
        <p:nvPicPr>
          <p:cNvPr id="3076" name="Picture 4" descr="未命名">
            <a:extLst>
              <a:ext uri="{FF2B5EF4-FFF2-40B4-BE49-F238E27FC236}">
                <a16:creationId xmlns:a16="http://schemas.microsoft.com/office/drawing/2014/main" id="{4B5DC14B-ACE3-7278-74D9-71D9D10637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3573463"/>
            <a:ext cx="720725" cy="72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 autoUpdateAnimBg="0"/>
      <p:bldP spid="3075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D06D589-6BD7-8272-9001-FF2A2B59DAE1}"/>
              </a:ext>
            </a:extLst>
          </p:cNvPr>
          <p:cNvSpPr txBox="1">
            <a:spLocks noChangeArrowheads="1"/>
          </p:cNvSpPr>
          <p:nvPr/>
        </p:nvSpPr>
        <p:spPr>
          <a:xfrm>
            <a:off x="520700" y="390525"/>
            <a:ext cx="7772400" cy="89217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 algn="ctr" eaLnBrk="1" hangingPunct="1">
              <a:defRPr/>
            </a:pPr>
            <a:r>
              <a:rPr lang="zh-CN" altLang="en-US" sz="4400" b="1" kern="0" dirty="0">
                <a:latin typeface="隶书" pitchFamily="49" charset="-122"/>
                <a:ea typeface="隶书" pitchFamily="49" charset="-122"/>
                <a:cs typeface="+mj-cs"/>
              </a:rPr>
              <a:t>数 值 分 析</a:t>
            </a:r>
            <a:br>
              <a:rPr lang="zh-CN" altLang="en-US" sz="4400" b="1" kern="0" dirty="0">
                <a:latin typeface="+mj-lt"/>
                <a:ea typeface="楷体_GB2312" pitchFamily="49" charset="-122"/>
                <a:cs typeface="+mj-cs"/>
              </a:rPr>
            </a:br>
            <a:endParaRPr lang="en-US" altLang="zh-CN" sz="4400" kern="0" dirty="0">
              <a:solidFill>
                <a:srgbClr val="008000"/>
              </a:solidFill>
              <a:latin typeface="+mj-lt"/>
              <a:ea typeface="楷体_GB2312" pitchFamily="49" charset="-122"/>
              <a:cs typeface="+mj-cs"/>
            </a:endParaRPr>
          </a:p>
        </p:txBody>
      </p:sp>
      <p:sp>
        <p:nvSpPr>
          <p:cNvPr id="4099" name="Text Box 3">
            <a:extLst>
              <a:ext uri="{FF2B5EF4-FFF2-40B4-BE49-F238E27FC236}">
                <a16:creationId xmlns:a16="http://schemas.microsoft.com/office/drawing/2014/main" id="{ACD86992-E5A5-4EF3-656E-545612564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213" y="1211263"/>
            <a:ext cx="5903912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60400" indent="-6604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30000"/>
              </a:spcAft>
              <a:buFont typeface="Wingdings" panose="05000000000000000000" pitchFamily="2" charset="2"/>
              <a:buChar char="&amp;"/>
            </a:pPr>
            <a:r>
              <a:rPr lang="zh-CN" altLang="en-US" sz="2800" b="1">
                <a:solidFill>
                  <a:schemeClr val="hlink"/>
                </a:solidFill>
                <a:ea typeface="楷体_GB2312" pitchFamily="49" charset="-122"/>
                <a:sym typeface="Symbol" panose="05050102010706020507" pitchFamily="18" charset="2"/>
              </a:rPr>
              <a:t>计算机学科的基础课程</a:t>
            </a:r>
            <a:endParaRPr lang="en-US" altLang="zh-CN" sz="2800" b="1">
              <a:solidFill>
                <a:schemeClr val="hlink"/>
              </a:solidFill>
              <a:ea typeface="楷体_GB2312" pitchFamily="49" charset="-122"/>
              <a:sym typeface="Symbol" panose="05050102010706020507" pitchFamily="18" charset="2"/>
            </a:endParaRP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Char char="Ø"/>
            </a:pPr>
            <a:r>
              <a:rPr lang="zh-CN" altLang="en-US" sz="2400" b="1">
                <a:ea typeface="楷体_GB2312" pitchFamily="49" charset="-122"/>
                <a:sym typeface="Wingdings" panose="05000000000000000000" pitchFamily="2" charset="2"/>
              </a:rPr>
              <a:t>数学家为进行自动化计算发明计算机</a:t>
            </a:r>
            <a:endParaRPr lang="en-US" altLang="zh-CN" sz="2400" b="1">
              <a:ea typeface="楷体_GB2312" pitchFamily="49" charset="-122"/>
              <a:sym typeface="Wingdings" panose="05000000000000000000" pitchFamily="2" charset="2"/>
            </a:endParaRP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Char char="Ø"/>
            </a:pPr>
            <a:r>
              <a:rPr lang="zh-CN" altLang="en-US" sz="2400" b="1">
                <a:ea typeface="楷体_GB2312" pitchFamily="49" charset="-122"/>
                <a:sym typeface="Wingdings" panose="05000000000000000000" pitchFamily="2" charset="2"/>
              </a:rPr>
              <a:t>法国科学家的帕斯卡，德国科学家契克卡德是最早的机械计算机发明者</a:t>
            </a:r>
          </a:p>
        </p:txBody>
      </p:sp>
      <p:pic>
        <p:nvPicPr>
          <p:cNvPr id="4100" name="Picture 2">
            <a:extLst>
              <a:ext uri="{FF2B5EF4-FFF2-40B4-BE49-F238E27FC236}">
                <a16:creationId xmlns:a16="http://schemas.microsoft.com/office/drawing/2014/main" id="{D0735718-6963-8D03-D117-0BDABC390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4900" y="1282700"/>
            <a:ext cx="272732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1" name="Text Box 3">
            <a:extLst>
              <a:ext uri="{FF2B5EF4-FFF2-40B4-BE49-F238E27FC236}">
                <a16:creationId xmlns:a16="http://schemas.microsoft.com/office/drawing/2014/main" id="{CD23A33D-E855-4499-60DE-9162A56C9D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3554413"/>
            <a:ext cx="5903913" cy="249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60400" indent="-6604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30000"/>
              </a:spcAft>
              <a:buFont typeface="Wingdings" panose="05000000000000000000" pitchFamily="2" charset="2"/>
              <a:buChar char="&amp;"/>
            </a:pPr>
            <a:r>
              <a:rPr lang="zh-CN" altLang="en-US" sz="2800" b="1">
                <a:solidFill>
                  <a:schemeClr val="hlink"/>
                </a:solidFill>
                <a:ea typeface="楷体_GB2312" pitchFamily="49" charset="-122"/>
                <a:sym typeface="Symbol" panose="05050102010706020507" pitchFamily="18" charset="2"/>
              </a:rPr>
              <a:t>数值计算与分析应用广泛</a:t>
            </a:r>
            <a:endParaRPr lang="en-US" altLang="zh-CN" sz="2800" b="1">
              <a:solidFill>
                <a:schemeClr val="hlink"/>
              </a:solidFill>
              <a:ea typeface="楷体_GB2312" pitchFamily="49" charset="-122"/>
              <a:sym typeface="Symbol" panose="05050102010706020507" pitchFamily="18" charset="2"/>
            </a:endParaRP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Char char="Ø"/>
            </a:pPr>
            <a:r>
              <a:rPr lang="zh-CN" altLang="en-US" sz="2400" b="1">
                <a:ea typeface="楷体_GB2312" pitchFamily="49" charset="-122"/>
                <a:sym typeface="Wingdings" panose="05000000000000000000" pitchFamily="2" charset="2"/>
              </a:rPr>
              <a:t>基础是二进制编码的浮点数四则运算</a:t>
            </a:r>
            <a:endParaRPr lang="en-US" altLang="zh-CN" sz="2400" b="1">
              <a:ea typeface="楷体_GB2312" pitchFamily="49" charset="-122"/>
              <a:sym typeface="Wingdings" panose="05000000000000000000" pitchFamily="2" charset="2"/>
            </a:endParaRP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Char char="Ø"/>
            </a:pPr>
            <a:r>
              <a:rPr lang="zh-CN" altLang="en-US" sz="2400" b="1">
                <a:ea typeface="楷体_GB2312" pitchFamily="49" charset="-122"/>
                <a:sym typeface="Wingdings" panose="05000000000000000000" pitchFamily="2" charset="2"/>
              </a:rPr>
              <a:t>在航空航天、自动控制、大规模优化、人工智能领域应用广泛</a:t>
            </a:r>
            <a:endParaRPr lang="en-US" altLang="zh-CN" sz="2400" b="1">
              <a:ea typeface="楷体_GB2312" pitchFamily="49" charset="-122"/>
              <a:sym typeface="Wingdings" panose="05000000000000000000" pitchFamily="2" charset="2"/>
            </a:endParaRP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Char char="Ø"/>
            </a:pPr>
            <a:r>
              <a:rPr lang="zh-CN" altLang="en-US" sz="2400" b="1">
                <a:ea typeface="楷体_GB2312" pitchFamily="49" charset="-122"/>
                <a:sym typeface="Wingdings" panose="05000000000000000000" pitchFamily="2" charset="2"/>
              </a:rPr>
              <a:t>代表性软件 </a:t>
            </a:r>
            <a:r>
              <a:rPr lang="en-US" altLang="zh-CN" sz="2400" b="1">
                <a:ea typeface="楷体_GB2312" pitchFamily="49" charset="-122"/>
                <a:sym typeface="Wingdings" panose="05000000000000000000" pitchFamily="2" charset="2"/>
              </a:rPr>
              <a:t>matlab, mathematica</a:t>
            </a:r>
            <a:endParaRPr lang="zh-CN" altLang="en-US" sz="2400" b="1">
              <a:ea typeface="楷体_GB2312" pitchFamily="49" charset="-122"/>
              <a:sym typeface="Wingdings" panose="05000000000000000000" pitchFamily="2" charset="2"/>
            </a:endParaRPr>
          </a:p>
        </p:txBody>
      </p:sp>
      <p:pic>
        <p:nvPicPr>
          <p:cNvPr id="4102" name="Picture 5">
            <a:extLst>
              <a:ext uri="{FF2B5EF4-FFF2-40B4-BE49-F238E27FC236}">
                <a16:creationId xmlns:a16="http://schemas.microsoft.com/office/drawing/2014/main" id="{25231AD7-97C8-1436-1B90-F7E82F2147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4613" y="3514725"/>
            <a:ext cx="2374900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>
            <a:extLst>
              <a:ext uri="{FF2B5EF4-FFF2-40B4-BE49-F238E27FC236}">
                <a16:creationId xmlns:a16="http://schemas.microsoft.com/office/drawing/2014/main" id="{80B171C7-381B-4185-09B3-073CF8AF5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33375"/>
            <a:ext cx="8243888" cy="375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008000"/>
                </a:solidFill>
                <a:ea typeface="楷体_GB2312" pitchFamily="49" charset="-122"/>
                <a:sym typeface="Webdings" panose="05030102010509060703" pitchFamily="18" charset="2"/>
              </a:rPr>
              <a:t>              </a:t>
            </a:r>
            <a:r>
              <a:rPr lang="en-US" altLang="zh-CN" sz="2800" b="1">
                <a:solidFill>
                  <a:schemeClr val="hlink"/>
                </a:solidFill>
                <a:ea typeface="楷体_GB2312" pitchFamily="49" charset="-122"/>
                <a:sym typeface="Webdings" panose="05030102010509060703" pitchFamily="18" charset="2"/>
              </a:rPr>
              <a:t>Grading Policies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zh-CN" sz="2800" b="1">
              <a:ea typeface="楷体_GB2312" pitchFamily="49" charset="-122"/>
              <a:sym typeface="Webdings" panose="05030102010509060703" pitchFamily="18" charset="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ea typeface="楷体_GB2312" pitchFamily="49" charset="-122"/>
                <a:sym typeface="Webdings" panose="05030102010509060703" pitchFamily="18" charset="2"/>
              </a:rPr>
              <a:t>  </a:t>
            </a:r>
            <a:r>
              <a:rPr lang="en-US" altLang="zh-CN" sz="2800" b="1">
                <a:ea typeface="楷体_GB2312" pitchFamily="49" charset="-122"/>
                <a:sym typeface="Wingdings" panose="05000000000000000000" pitchFamily="2" charset="2"/>
              </a:rPr>
              <a:t> Lecture Grade (100)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ea typeface="楷体_GB2312" pitchFamily="49" charset="-122"/>
                <a:sym typeface="Wingdings" panose="05000000000000000000" pitchFamily="2" charset="2"/>
              </a:rPr>
              <a:t>        = Laboratory Projects (36) + Classroom Quiz(4)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ea typeface="楷体_GB2312" pitchFamily="49" charset="-122"/>
                <a:sym typeface="Wingdings" panose="05000000000000000000" pitchFamily="2" charset="2"/>
              </a:rPr>
              <a:t>            + Research Topics (15) + Homework(5)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ea typeface="楷体_GB2312" pitchFamily="49" charset="-122"/>
                <a:sym typeface="Wingdings" panose="05000000000000000000" pitchFamily="2" charset="2"/>
              </a:rPr>
              <a:t>	  + Final Exam (40*)</a:t>
            </a:r>
          </a:p>
        </p:txBody>
      </p:sp>
      <p:graphicFrame>
        <p:nvGraphicFramePr>
          <p:cNvPr id="5123" name="Object 6">
            <a:extLst>
              <a:ext uri="{FF2B5EF4-FFF2-40B4-BE49-F238E27FC236}">
                <a16:creationId xmlns:a16="http://schemas.microsoft.com/office/drawing/2014/main" id="{20F714F8-014B-9535-80E6-2BFC9FD2C4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725" y="333375"/>
          <a:ext cx="728663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剪辑" r:id="rId3" imgW="2522538" imgH="3603625" progId="MS_ClipArt_Gallery.2">
                  <p:embed/>
                </p:oleObj>
              </mc:Choice>
              <mc:Fallback>
                <p:oleObj name="剪辑" r:id="rId3" imgW="2522538" imgH="3603625" progId="MS_ClipArt_Gallery.2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" y="333375"/>
                        <a:ext cx="728663" cy="1039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">
            <a:extLst>
              <a:ext uri="{FF2B5EF4-FFF2-40B4-BE49-F238E27FC236}">
                <a16:creationId xmlns:a16="http://schemas.microsoft.com/office/drawing/2014/main" id="{FAA3B86F-2F6C-25FD-FEE8-C1B1130CBFDD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4292600"/>
            <a:ext cx="6223000" cy="1109663"/>
            <a:chOff x="336" y="2391"/>
            <a:chExt cx="3920" cy="699"/>
          </a:xfrm>
        </p:grpSpPr>
        <p:graphicFrame>
          <p:nvGraphicFramePr>
            <p:cNvPr id="5125" name="Object 3">
              <a:extLst>
                <a:ext uri="{FF2B5EF4-FFF2-40B4-BE49-F238E27FC236}">
                  <a16:creationId xmlns:a16="http://schemas.microsoft.com/office/drawing/2014/main" id="{A30A4411-F383-EF27-C90E-49F094D767F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81" y="2391"/>
            <a:ext cx="1075" cy="6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774364" imgH="545863" progId="Equation.3">
                    <p:embed/>
                  </p:oleObj>
                </mc:Choice>
                <mc:Fallback>
                  <p:oleObj name="Equation" r:id="rId5" imgW="774364" imgH="545863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1" y="2391"/>
                          <a:ext cx="1075" cy="6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6" name="Text Box 9">
              <a:extLst>
                <a:ext uri="{FF2B5EF4-FFF2-40B4-BE49-F238E27FC236}">
                  <a16:creationId xmlns:a16="http://schemas.microsoft.com/office/drawing/2014/main" id="{DFFDEBE5-C820-965C-2229-452DF75D41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2544"/>
              <a:ext cx="32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>
                  <a:ea typeface="楷体_GB2312" pitchFamily="49" charset="-122"/>
                  <a:sym typeface="Wingdings" panose="05000000000000000000" pitchFamily="2" charset="2"/>
                </a:rPr>
                <a:t> Laboratory Grade (36) = </a:t>
              </a:r>
              <a:endParaRPr lang="en-US" altLang="zh-CN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E2F698D9-B3A1-C5ED-86AE-83435366CEC5}"/>
              </a:ext>
            </a:extLst>
          </p:cNvPr>
          <p:cNvGrpSpPr>
            <a:grpSpLocks/>
          </p:cNvGrpSpPr>
          <p:nvPr/>
        </p:nvGrpSpPr>
        <p:grpSpPr bwMode="auto">
          <a:xfrm>
            <a:off x="1908175" y="908050"/>
            <a:ext cx="6119813" cy="4149725"/>
            <a:chOff x="1202" y="572"/>
            <a:chExt cx="3855" cy="2614"/>
          </a:xfrm>
        </p:grpSpPr>
        <p:pic>
          <p:nvPicPr>
            <p:cNvPr id="6147" name="Picture 4" descr="j0233018">
              <a:extLst>
                <a:ext uri="{FF2B5EF4-FFF2-40B4-BE49-F238E27FC236}">
                  <a16:creationId xmlns:a16="http://schemas.microsoft.com/office/drawing/2014/main" id="{6AB0D728-C18B-E05F-8E57-9ADE4C2440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2" y="572"/>
              <a:ext cx="998" cy="7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48" name="Rectangle 5">
              <a:extLst>
                <a:ext uri="{FF2B5EF4-FFF2-40B4-BE49-F238E27FC236}">
                  <a16:creationId xmlns:a16="http://schemas.microsoft.com/office/drawing/2014/main" id="{9EF79619-BDE6-A868-0E22-29898C9C99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0" y="935"/>
              <a:ext cx="274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solidFill>
                    <a:srgbClr val="800080"/>
                  </a:solidFill>
                  <a:latin typeface="Arial" panose="020B0604020202020204" pitchFamily="34" charset="0"/>
                  <a:sym typeface="Wingdings" panose="05000000000000000000" pitchFamily="2" charset="2"/>
                </a:rPr>
                <a:t>Classroom Quiz</a:t>
              </a:r>
              <a:r>
                <a:rPr lang="en-US" altLang="zh-CN" sz="3600" b="1">
                  <a:sym typeface="Wingdings" panose="05000000000000000000" pitchFamily="2" charset="2"/>
                </a:rPr>
                <a:t> (4)</a:t>
              </a:r>
            </a:p>
          </p:txBody>
        </p:sp>
        <p:sp>
          <p:nvSpPr>
            <p:cNvPr id="6149" name="Rectangle 6">
              <a:extLst>
                <a:ext uri="{FF2B5EF4-FFF2-40B4-BE49-F238E27FC236}">
                  <a16:creationId xmlns:a16="http://schemas.microsoft.com/office/drawing/2014/main" id="{DA3FE3B2-9EF8-9C52-9792-DB1197B2A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4" y="1616"/>
              <a:ext cx="3673" cy="15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50000"/>
                </a:spcAft>
                <a:buFont typeface="Wingdings" panose="05000000000000000000" pitchFamily="2" charset="2"/>
                <a:buChar char="Ø"/>
              </a:pPr>
              <a:r>
                <a:rPr lang="en-US" altLang="zh-CN" sz="2400" b="1">
                  <a:sym typeface="Wingdings" panose="05000000000000000000" pitchFamily="2" charset="2"/>
                </a:rPr>
                <a:t> Twice, 2 for each test</a:t>
              </a:r>
            </a:p>
            <a:p>
              <a:pPr eaLnBrk="1" hangingPunct="1">
                <a:spcBef>
                  <a:spcPct val="0"/>
                </a:spcBef>
                <a:spcAft>
                  <a:spcPct val="50000"/>
                </a:spcAft>
                <a:buFont typeface="Wingdings" panose="05000000000000000000" pitchFamily="2" charset="2"/>
                <a:buChar char="Ø"/>
              </a:pPr>
              <a:r>
                <a:rPr lang="en-US" altLang="zh-CN" sz="2400" b="1">
                  <a:sym typeface="Wingdings" panose="05000000000000000000" pitchFamily="2" charset="2"/>
                </a:rPr>
                <a:t> Can also answer the question in class (1 for each question)</a:t>
              </a:r>
            </a:p>
            <a:p>
              <a:pPr eaLnBrk="1" hangingPunct="1">
                <a:spcBef>
                  <a:spcPct val="0"/>
                </a:spcBef>
                <a:spcAft>
                  <a:spcPct val="50000"/>
                </a:spcAft>
                <a:buFont typeface="Wingdings" panose="05000000000000000000" pitchFamily="2" charset="2"/>
                <a:buChar char="Ø"/>
              </a:pPr>
              <a:r>
                <a:rPr lang="en-US" altLang="zh-CN" sz="2400" b="1">
                  <a:sym typeface="Wingdings" panose="05000000000000000000" pitchFamily="2" charset="2"/>
                </a:rPr>
                <a:t>Can be class quiz</a:t>
              </a:r>
            </a:p>
            <a:p>
              <a:pPr eaLnBrk="1" hangingPunct="1">
                <a:spcBef>
                  <a:spcPct val="0"/>
                </a:spcBef>
                <a:spcAft>
                  <a:spcPct val="50000"/>
                </a:spcAft>
                <a:buFontTx/>
                <a:buNone/>
              </a:pPr>
              <a:endParaRPr lang="en-US" altLang="zh-CN" sz="2400" b="1"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D05C4E08-5C33-A4E4-53DA-30428591421C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908050"/>
            <a:ext cx="6769100" cy="5589588"/>
            <a:chOff x="884" y="346"/>
            <a:chExt cx="4082" cy="3521"/>
          </a:xfrm>
        </p:grpSpPr>
        <p:sp>
          <p:nvSpPr>
            <p:cNvPr id="7171" name="Text Box 5">
              <a:extLst>
                <a:ext uri="{FF2B5EF4-FFF2-40B4-BE49-F238E27FC236}">
                  <a16:creationId xmlns:a16="http://schemas.microsoft.com/office/drawing/2014/main" id="{12397FF5-C01D-6E78-1659-9466E71890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483"/>
              <a:ext cx="4082" cy="3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61950" indent="-361950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20000"/>
                </a:spcAft>
                <a:buFontTx/>
                <a:buNone/>
              </a:pPr>
              <a:r>
                <a:rPr kumimoji="0" lang="en-US" altLang="zh-CN" sz="24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rPr>
                <a:t>             </a:t>
              </a:r>
              <a:r>
                <a:rPr kumimoji="0" lang="en-US" altLang="zh-CN" sz="3600" b="1">
                  <a:solidFill>
                    <a:srgbClr val="990099"/>
                  </a:solidFill>
                  <a:latin typeface="Arial" panose="020B0604020202020204" pitchFamily="34" charset="0"/>
                  <a:ea typeface="楷体_GB2312" pitchFamily="49" charset="-122"/>
                </a:rPr>
                <a:t>Research topics </a:t>
              </a:r>
              <a:r>
                <a:rPr kumimoji="0" lang="en-US" altLang="zh-CN" sz="3600" b="1"/>
                <a:t>(15)</a:t>
              </a:r>
              <a:r>
                <a:rPr kumimoji="0" lang="en-US" altLang="zh-CN" sz="3600" b="1">
                  <a:solidFill>
                    <a:srgbClr val="008000"/>
                  </a:solidFill>
                  <a:latin typeface="Arial" panose="020B0604020202020204" pitchFamily="34" charset="0"/>
                  <a:ea typeface="楷体_GB2312" pitchFamily="49" charset="-122"/>
                </a:rPr>
                <a:t> </a:t>
              </a:r>
            </a:p>
            <a:p>
              <a:pPr eaLnBrk="1" hangingPunct="1">
                <a:lnSpc>
                  <a:spcPct val="120000"/>
                </a:lnSpc>
                <a:spcBef>
                  <a:spcPct val="50000"/>
                </a:spcBef>
                <a:spcAft>
                  <a:spcPct val="50000"/>
                </a:spcAft>
                <a:buFont typeface="Wingdings" panose="05000000000000000000" pitchFamily="2" charset="2"/>
                <a:buChar char="u"/>
              </a:pPr>
              <a:r>
                <a:rPr lang="en-US" altLang="zh-CN" sz="2400" b="1">
                  <a:ea typeface="楷体_GB2312" pitchFamily="49" charset="-122"/>
                </a:rPr>
                <a:t> Done in groups</a:t>
              </a: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spcAft>
                  <a:spcPct val="50000"/>
                </a:spcAft>
                <a:buFont typeface="Wingdings" panose="05000000000000000000" pitchFamily="2" charset="2"/>
                <a:buChar char="u"/>
              </a:pPr>
              <a:r>
                <a:rPr lang="en-US" altLang="zh-CN" sz="2400" b="1">
                  <a:ea typeface="楷体_GB2312" pitchFamily="49" charset="-122"/>
                </a:rPr>
                <a:t> 18 topics to choose from</a:t>
              </a: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spcAft>
                  <a:spcPct val="50000"/>
                </a:spcAft>
                <a:buFont typeface="Wingdings" panose="05000000000000000000" pitchFamily="2" charset="2"/>
                <a:buChar char="u"/>
              </a:pPr>
              <a:r>
                <a:rPr lang="en-US" altLang="zh-CN" sz="2400" b="1">
                  <a:ea typeface="楷体_GB2312" pitchFamily="49" charset="-122"/>
                </a:rPr>
                <a:t> In-class presentations (5~10 minutes each)</a:t>
              </a: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spcAft>
                  <a:spcPct val="50000"/>
                </a:spcAft>
                <a:buFont typeface="Wingdings" panose="05000000000000000000" pitchFamily="2" charset="2"/>
                <a:buChar char="u"/>
              </a:pPr>
              <a:r>
                <a:rPr lang="en-US" altLang="zh-CN" sz="2400" b="1">
                  <a:ea typeface="楷体_GB2312" pitchFamily="49" charset="-122"/>
                </a:rPr>
                <a:t> If there are many volunteers, only one group will be chosen</a:t>
              </a: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spcAft>
                  <a:spcPct val="50000"/>
                </a:spcAft>
                <a:buFont typeface="Wingdings" panose="05000000000000000000" pitchFamily="2" charset="2"/>
                <a:buChar char="u"/>
              </a:pPr>
              <a:r>
                <a:rPr lang="en-US" altLang="zh-CN" sz="2400" b="1">
                  <a:ea typeface="楷体_GB2312" pitchFamily="49" charset="-122"/>
                </a:rPr>
                <a:t> If there is no volunteer, I will talk about it</a:t>
              </a: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spcAft>
                  <a:spcPct val="50000"/>
                </a:spcAft>
                <a:buFont typeface="Wingdings" panose="05000000000000000000" pitchFamily="2" charset="2"/>
                <a:buChar char="u"/>
              </a:pPr>
              <a:r>
                <a:rPr lang="en-US" altLang="zh-CN" sz="2400" b="1">
                  <a:ea typeface="楷体_GB2312" pitchFamily="49" charset="-122"/>
                </a:rPr>
                <a:t> 10 points for correctness + 5 points for clearness</a:t>
              </a:r>
            </a:p>
          </p:txBody>
        </p:sp>
        <p:graphicFrame>
          <p:nvGraphicFramePr>
            <p:cNvPr id="7172" name="Object 6">
              <a:extLst>
                <a:ext uri="{FF2B5EF4-FFF2-40B4-BE49-F238E27FC236}">
                  <a16:creationId xmlns:a16="http://schemas.microsoft.com/office/drawing/2014/main" id="{70B06607-AAA6-306E-E4B5-5D899763FD5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84" y="346"/>
            <a:ext cx="650" cy="4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剪辑" r:id="rId2" imgW="1803197" imgH="1026871" progId="MS_ClipArt_Gallery.2">
                    <p:embed/>
                  </p:oleObj>
                </mc:Choice>
                <mc:Fallback>
                  <p:oleObj name="剪辑" r:id="rId2" imgW="1803197" imgH="1026871" progId="MS_ClipArt_Gallery.2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4" y="346"/>
                          <a:ext cx="650" cy="4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3">
      <a:dk1>
        <a:srgbClr val="000000"/>
      </a:dk1>
      <a:lt1>
        <a:srgbClr val="FFFFCC"/>
      </a:lt1>
      <a:dk2>
        <a:srgbClr val="808000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317</Words>
  <Application>Microsoft Office PowerPoint</Application>
  <PresentationFormat>全屏显示(4:3)</PresentationFormat>
  <Paragraphs>43</Paragraphs>
  <Slides>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Times New Roman</vt:lpstr>
      <vt:lpstr>宋体</vt:lpstr>
      <vt:lpstr>Arial</vt:lpstr>
      <vt:lpstr>等线</vt:lpstr>
      <vt:lpstr>隶书</vt:lpstr>
      <vt:lpstr>楷体_GB2312</vt:lpstr>
      <vt:lpstr>Symbol</vt:lpstr>
      <vt:lpstr>Wingdings</vt:lpstr>
      <vt:lpstr>Webdings</vt:lpstr>
      <vt:lpstr>默认设计模板</vt:lpstr>
      <vt:lpstr>Microsoft Clip Gallery</vt:lpstr>
      <vt:lpstr>Microsoft 公式 3.0</vt:lpstr>
      <vt:lpstr>数 值 分 析 Numerical  Analysis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数据结构与算法 Data Structures and Algorithms</dc:title>
  <dc:creator>rz</dc:creator>
  <cp:lastModifiedBy>Weiwei Xu</cp:lastModifiedBy>
  <cp:revision>74</cp:revision>
  <dcterms:created xsi:type="dcterms:W3CDTF">2000-07-24T07:33:21Z</dcterms:created>
  <dcterms:modified xsi:type="dcterms:W3CDTF">2022-09-14T09:22:15Z</dcterms:modified>
</cp:coreProperties>
</file>