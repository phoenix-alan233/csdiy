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137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2160A-DC29-4612-BBEC-12FC4B16FD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E126D-1D79-4402-9567-2AB309ED56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Exercises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of Equations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Problem: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a. what is the fixed points of the following iterative equation?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r>
              <a:rPr lang="en-US" altLang="zh-CN" dirty="0"/>
              <a:t>	b. If starting from             , what value will the equation converge to?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c. If starting from             , what value will the equation converge to?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43099" y="2796797"/>
          <a:ext cx="2503170" cy="994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公式" r:id="rId1" imgW="990600" imgH="393700" progId="Equation.3">
                  <p:embed/>
                </p:oleObj>
              </mc:Choice>
              <mc:Fallback>
                <p:oleObj name="公式" r:id="rId1" imgW="990600" imgH="3937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099" y="2796797"/>
                        <a:ext cx="2503170" cy="9944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35843" y="4027298"/>
          <a:ext cx="1176130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公式" r:id="rId3" imgW="533400" imgH="228600" progId="Equation.3">
                  <p:embed/>
                </p:oleObj>
              </mc:Choice>
              <mc:Fallback>
                <p:oleObj name="公式" r:id="rId3" imgW="53340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843" y="4027298"/>
                        <a:ext cx="1176130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488125" y="4930013"/>
          <a:ext cx="12049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5" imgW="546100" imgH="228600" progId="Equation.3">
                  <p:embed/>
                </p:oleObj>
              </mc:Choice>
              <mc:Fallback>
                <p:oleObj name="公式" r:id="rId5" imgW="5461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125" y="4930013"/>
                        <a:ext cx="120491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of Equations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600" y="1340768"/>
            <a:ext cx="7258050" cy="5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接连接符 5"/>
          <p:cNvCxnSpPr/>
          <p:nvPr/>
        </p:nvCxnSpPr>
        <p:spPr>
          <a:xfrm flipV="1">
            <a:off x="4594225" y="4323829"/>
            <a:ext cx="0" cy="2016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458940" y="4324846"/>
            <a:ext cx="126000" cy="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4456559" y="4315321"/>
            <a:ext cx="0" cy="2016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621148" y="6108536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2" imgW="190500" imgH="228600" progId="Equation.3">
                  <p:embed/>
                </p:oleObj>
              </mc:Choice>
              <mc:Fallback>
                <p:oleObj name="公式" r:id="rId2" imgW="19050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148" y="6108536"/>
                        <a:ext cx="1905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4291013" y="6099175"/>
          <a:ext cx="177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公式" r:id="rId4" imgW="177800" imgH="215900" progId="Equation.3">
                  <p:embed/>
                </p:oleObj>
              </mc:Choice>
              <mc:Fallback>
                <p:oleObj name="公式" r:id="rId4" imgW="177800" imgH="2159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013" y="6099175"/>
                        <a:ext cx="1778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Least Squares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Problem: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Given a function                  , find     and      so that it fits the following data and weights in a least-squares manner?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94075" y="2276872"/>
          <a:ext cx="288032" cy="402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公式" r:id="rId1" imgW="165100" imgH="215900" progId="Equation.3">
                  <p:embed/>
                </p:oleObj>
              </mc:Choice>
              <mc:Fallback>
                <p:oleObj name="公式" r:id="rId1" imgW="165100" imgH="2159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075" y="2276872"/>
                        <a:ext cx="288032" cy="4023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7309820" y="2276872"/>
          <a:ext cx="3111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3" imgW="177800" imgH="215900" progId="Equation.3">
                  <p:embed/>
                </p:oleObj>
              </mc:Choice>
              <mc:Fallback>
                <p:oleObj name="公式" r:id="rId3" imgW="177800" imgH="2159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9820" y="2276872"/>
                        <a:ext cx="31115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626295" y="2276872"/>
          <a:ext cx="1654032" cy="40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公式" r:id="rId5" imgW="939800" imgH="228600" progId="Equation.3">
                  <p:embed/>
                </p:oleObj>
              </mc:Choice>
              <mc:Fallback>
                <p:oleObj name="公式" r:id="rId5" imgW="9398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6295" y="2276872"/>
                        <a:ext cx="1654032" cy="4023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07704" y="4149080"/>
          <a:ext cx="48768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</a:tblGrid>
              <a:tr h="355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x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y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w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Least Squares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2258062" y="1938411"/>
            <a:ext cx="3466066" cy="698501"/>
            <a:chOff x="1259632" y="1916832"/>
            <a:chExt cx="3466066" cy="698501"/>
          </a:xfrm>
        </p:grpSpPr>
        <p:sp>
          <p:nvSpPr>
            <p:cNvPr id="14" name="Rectangle 96"/>
            <p:cNvSpPr>
              <a:spLocks noChangeArrowheads="1"/>
            </p:cNvSpPr>
            <p:nvPr/>
          </p:nvSpPr>
          <p:spPr bwMode="auto">
            <a:xfrm>
              <a:off x="1683370" y="1918420"/>
              <a:ext cx="84137" cy="1825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200" b="1" i="1">
                  <a:solidFill>
                    <a:srgbClr val="000000"/>
                  </a:solidFill>
                </a:rPr>
                <a:t>n</a:t>
              </a:r>
              <a:endParaRPr kumimoji="1" lang="en-US" altLang="zh-CN" sz="2800"/>
            </a:p>
          </p:txBody>
        </p:sp>
        <p:sp>
          <p:nvSpPr>
            <p:cNvPr id="16" name="Rectangle 98"/>
            <p:cNvSpPr>
              <a:spLocks noChangeArrowheads="1"/>
            </p:cNvSpPr>
            <p:nvPr/>
          </p:nvSpPr>
          <p:spPr bwMode="auto">
            <a:xfrm>
              <a:off x="3451845" y="1918420"/>
              <a:ext cx="119062" cy="1825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200" b="1" i="1">
                  <a:solidFill>
                    <a:srgbClr val="000000"/>
                  </a:solidFill>
                </a:rPr>
                <a:t>m</a:t>
              </a:r>
              <a:endParaRPr kumimoji="1" lang="en-US" altLang="zh-CN" sz="2800"/>
            </a:p>
          </p:txBody>
        </p:sp>
        <p:sp>
          <p:nvSpPr>
            <p:cNvPr id="21" name="Rectangle 103"/>
            <p:cNvSpPr>
              <a:spLocks noChangeArrowheads="1"/>
            </p:cNvSpPr>
            <p:nvPr/>
          </p:nvSpPr>
          <p:spPr bwMode="auto">
            <a:xfrm>
              <a:off x="2329483" y="1918420"/>
              <a:ext cx="119062" cy="1825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1200" b="1" i="1">
                  <a:solidFill>
                    <a:srgbClr val="000000"/>
                  </a:solidFill>
                </a:rPr>
                <a:t>m</a:t>
              </a:r>
              <a:endParaRPr kumimoji="1" lang="en-US" altLang="zh-CN" sz="2800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259632" y="1916832"/>
              <a:ext cx="3466066" cy="698501"/>
              <a:chOff x="1259632" y="1916832"/>
              <a:chExt cx="3466066" cy="698501"/>
            </a:xfrm>
          </p:grpSpPr>
          <p:sp>
            <p:nvSpPr>
              <p:cNvPr id="36" name="AutoShape 118"/>
              <p:cNvSpPr>
                <a:spLocks noChangeArrowheads="1"/>
              </p:cNvSpPr>
              <p:nvPr/>
            </p:nvSpPr>
            <p:spPr bwMode="auto">
              <a:xfrm>
                <a:off x="1429370" y="1916832"/>
                <a:ext cx="2895600" cy="685800"/>
              </a:xfrm>
              <a:prstGeom prst="bracePair">
                <a:avLst>
                  <a:gd name="adj" fmla="val 8333"/>
                </a:avLst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1259632" y="1986682"/>
                <a:ext cx="3466066" cy="628651"/>
                <a:chOff x="1248395" y="1986682"/>
                <a:chExt cx="3466066" cy="628651"/>
              </a:xfrm>
            </p:grpSpPr>
            <p:sp>
              <p:nvSpPr>
                <p:cNvPr id="5" name="Rectangle 87"/>
                <p:cNvSpPr>
                  <a:spLocks noChangeArrowheads="1"/>
                </p:cNvSpPr>
                <p:nvPr/>
              </p:nvSpPr>
              <p:spPr bwMode="auto">
                <a:xfrm>
                  <a:off x="3186733" y="2058120"/>
                  <a:ext cx="146050" cy="320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2100" b="1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-</a:t>
                  </a:r>
                  <a:endParaRPr kumimoji="1" lang="en-US" altLang="zh-CN" sz="2800"/>
                </a:p>
              </p:txBody>
            </p:sp>
            <p:sp>
              <p:nvSpPr>
                <p:cNvPr id="7" name="Rectangle 89"/>
                <p:cNvSpPr>
                  <a:spLocks noChangeArrowheads="1"/>
                </p:cNvSpPr>
                <p:nvPr/>
              </p:nvSpPr>
              <p:spPr bwMode="auto">
                <a:xfrm>
                  <a:off x="1584945" y="1986682"/>
                  <a:ext cx="255587" cy="5175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3400" b="1" dirty="0">
                      <a:solidFill>
                        <a:srgbClr val="000000"/>
                      </a:solidFill>
                      <a:latin typeface="Symbol" panose="05050102010706020507" pitchFamily="18" charset="2"/>
                      <a:sym typeface="Symbol" panose="05050102010706020507" pitchFamily="18" charset="2"/>
                    </a:rPr>
                    <a:t></a:t>
                  </a:r>
                  <a:endParaRPr kumimoji="1" lang="en-US" altLang="zh-CN" sz="3400" b="1" dirty="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8" name="Rectangle 90"/>
                <p:cNvSpPr>
                  <a:spLocks noChangeArrowheads="1"/>
                </p:cNvSpPr>
                <p:nvPr/>
              </p:nvSpPr>
              <p:spPr bwMode="auto">
                <a:xfrm>
                  <a:off x="3374058" y="1986682"/>
                  <a:ext cx="255587" cy="5175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3400" b="1" dirty="0">
                      <a:solidFill>
                        <a:srgbClr val="000000"/>
                      </a:solidFill>
                      <a:latin typeface="Symbol" panose="05050102010706020507" pitchFamily="18" charset="2"/>
                      <a:sym typeface="Symbol" panose="05050102010706020507" pitchFamily="18" charset="2"/>
                    </a:rPr>
                    <a:t></a:t>
                  </a:r>
                  <a:endParaRPr kumimoji="1" lang="en-US" altLang="zh-CN" sz="3400" b="1" dirty="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9" name="Rectangle 91"/>
                <p:cNvSpPr>
                  <a:spLocks noChangeArrowheads="1"/>
                </p:cNvSpPr>
                <p:nvPr/>
              </p:nvSpPr>
              <p:spPr bwMode="auto">
                <a:xfrm>
                  <a:off x="2251695" y="1986682"/>
                  <a:ext cx="255587" cy="5175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3400" b="1" dirty="0">
                      <a:solidFill>
                        <a:srgbClr val="000000"/>
                      </a:solidFill>
                      <a:latin typeface="Symbol" panose="05050102010706020507" pitchFamily="18" charset="2"/>
                      <a:sym typeface="Symbol" panose="05050102010706020507" pitchFamily="18" charset="2"/>
                    </a:rPr>
                    <a:t></a:t>
                  </a:r>
                  <a:endParaRPr kumimoji="1" lang="en-US" altLang="zh-CN" sz="3400" b="1" dirty="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0" name="Rectangle 92"/>
                <p:cNvSpPr>
                  <a:spLocks noChangeArrowheads="1"/>
                </p:cNvSpPr>
                <p:nvPr/>
              </p:nvSpPr>
              <p:spPr bwMode="auto">
                <a:xfrm>
                  <a:off x="1683370" y="2416895"/>
                  <a:ext cx="84137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=</a:t>
                  </a:r>
                  <a:endParaRPr kumimoji="1" lang="en-US" altLang="zh-CN" sz="2800"/>
                </a:p>
              </p:txBody>
            </p:sp>
            <p:sp>
              <p:nvSpPr>
                <p:cNvPr id="11" name="Rectangle 93"/>
                <p:cNvSpPr>
                  <a:spLocks noChangeArrowheads="1"/>
                </p:cNvSpPr>
                <p:nvPr/>
              </p:nvSpPr>
              <p:spPr bwMode="auto">
                <a:xfrm>
                  <a:off x="3466133" y="2416895"/>
                  <a:ext cx="84137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=</a:t>
                  </a:r>
                  <a:endParaRPr kumimoji="1" lang="en-US" altLang="zh-CN" sz="2800"/>
                </a:p>
              </p:txBody>
            </p:sp>
            <p:sp>
              <p:nvSpPr>
                <p:cNvPr id="12" name="Rectangle 94"/>
                <p:cNvSpPr>
                  <a:spLocks noChangeArrowheads="1"/>
                </p:cNvSpPr>
                <p:nvPr/>
              </p:nvSpPr>
              <p:spPr bwMode="auto">
                <a:xfrm>
                  <a:off x="2343770" y="2416895"/>
                  <a:ext cx="84137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=</a:t>
                  </a:r>
                  <a:endParaRPr kumimoji="1" lang="en-US" altLang="zh-CN" sz="2800"/>
                </a:p>
              </p:txBody>
            </p:sp>
            <p:sp>
              <p:nvSpPr>
                <p:cNvPr id="13" name="Rectangle 95"/>
                <p:cNvSpPr>
                  <a:spLocks noChangeArrowheads="1"/>
                </p:cNvSpPr>
                <p:nvPr/>
              </p:nvSpPr>
              <p:spPr bwMode="auto">
                <a:xfrm>
                  <a:off x="2818433" y="2050182"/>
                  <a:ext cx="84137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>
                      <a:solidFill>
                        <a:schemeClr val="hlink"/>
                      </a:solidFill>
                      <a:latin typeface="Symbol" panose="05050102010706020507" pitchFamily="18" charset="2"/>
                    </a:rPr>
                    <a:t>+</a:t>
                  </a:r>
                  <a:endParaRPr kumimoji="1" lang="en-US" altLang="zh-CN" sz="280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5" name="Rectangle 97"/>
                <p:cNvSpPr>
                  <a:spLocks noChangeArrowheads="1"/>
                </p:cNvSpPr>
                <p:nvPr/>
              </p:nvSpPr>
              <p:spPr bwMode="auto">
                <a:xfrm>
                  <a:off x="1627808" y="2432770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rgbClr val="000000"/>
                      </a:solidFill>
                    </a:rPr>
                    <a:t>j</a:t>
                  </a:r>
                  <a:endParaRPr kumimoji="1" lang="en-US" altLang="zh-CN" sz="2800"/>
                </a:p>
              </p:txBody>
            </p:sp>
            <p:sp>
              <p:nvSpPr>
                <p:cNvPr id="17" name="Rectangle 99"/>
                <p:cNvSpPr>
                  <a:spLocks noChangeArrowheads="1"/>
                </p:cNvSpPr>
                <p:nvPr/>
              </p:nvSpPr>
              <p:spPr bwMode="auto">
                <a:xfrm>
                  <a:off x="3407395" y="2432770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rgbClr val="000000"/>
                      </a:solidFill>
                    </a:rPr>
                    <a:t>i</a:t>
                  </a:r>
                  <a:endParaRPr kumimoji="1" lang="en-US" altLang="zh-CN" sz="2800"/>
                </a:p>
              </p:txBody>
            </p:sp>
            <p:sp>
              <p:nvSpPr>
                <p:cNvPr id="18" name="Rectangle 100"/>
                <p:cNvSpPr>
                  <a:spLocks noChangeArrowheads="1"/>
                </p:cNvSpPr>
                <p:nvPr/>
              </p:nvSpPr>
              <p:spPr bwMode="auto">
                <a:xfrm>
                  <a:off x="4077320" y="2066057"/>
                  <a:ext cx="76200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chemeClr val="hlink"/>
                      </a:solidFill>
                    </a:rPr>
                    <a:t>k</a:t>
                  </a:r>
                  <a:endParaRPr kumimoji="1" lang="en-US" altLang="zh-CN" sz="280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9" name="Rectangle 101"/>
                <p:cNvSpPr>
                  <a:spLocks noChangeArrowheads="1"/>
                </p:cNvSpPr>
                <p:nvPr/>
              </p:nvSpPr>
              <p:spPr bwMode="auto">
                <a:xfrm>
                  <a:off x="4063033" y="2248620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chemeClr val="hlink"/>
                      </a:solidFill>
                    </a:rPr>
                    <a:t>i</a:t>
                  </a:r>
                  <a:endParaRPr kumimoji="1" lang="en-US" altLang="zh-CN" sz="280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0" name="Rectangle 102"/>
                <p:cNvSpPr>
                  <a:spLocks noChangeArrowheads="1"/>
                </p:cNvSpPr>
                <p:nvPr/>
              </p:nvSpPr>
              <p:spPr bwMode="auto">
                <a:xfrm>
                  <a:off x="3842370" y="2248620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chemeClr val="hlink"/>
                      </a:solidFill>
                    </a:rPr>
                    <a:t>i</a:t>
                  </a:r>
                  <a:endParaRPr kumimoji="1" lang="en-US" altLang="zh-CN" sz="280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2" name="Rectangle 104"/>
                <p:cNvSpPr>
                  <a:spLocks noChangeArrowheads="1"/>
                </p:cNvSpPr>
                <p:nvPr/>
              </p:nvSpPr>
              <p:spPr bwMode="auto">
                <a:xfrm>
                  <a:off x="2285033" y="2432770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rgbClr val="000000"/>
                      </a:solidFill>
                    </a:rPr>
                    <a:t>i</a:t>
                  </a:r>
                  <a:endParaRPr kumimoji="1" lang="en-US" altLang="zh-CN" sz="2800"/>
                </a:p>
              </p:txBody>
            </p:sp>
            <p:sp>
              <p:nvSpPr>
                <p:cNvPr id="23" name="Rectangle 105"/>
                <p:cNvSpPr>
                  <a:spLocks noChangeArrowheads="1"/>
                </p:cNvSpPr>
                <p:nvPr/>
              </p:nvSpPr>
              <p:spPr bwMode="auto">
                <a:xfrm>
                  <a:off x="2913683" y="2066057"/>
                  <a:ext cx="76200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 dirty="0">
                      <a:solidFill>
                        <a:schemeClr val="hlink"/>
                      </a:solidFill>
                    </a:rPr>
                    <a:t>k</a:t>
                  </a:r>
                  <a:endParaRPr kumimoji="1" lang="en-US" altLang="zh-CN" sz="2800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4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62870" y="2066057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 dirty="0">
                      <a:solidFill>
                        <a:schemeClr val="hlink"/>
                      </a:solidFill>
                    </a:rPr>
                    <a:t>j</a:t>
                  </a:r>
                  <a:endParaRPr kumimoji="1" lang="en-US" altLang="zh-CN" sz="2800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5" name="Rectangle 107"/>
                <p:cNvSpPr>
                  <a:spLocks noChangeArrowheads="1"/>
                </p:cNvSpPr>
                <p:nvPr/>
              </p:nvSpPr>
              <p:spPr bwMode="auto">
                <a:xfrm>
                  <a:off x="2723183" y="2248620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chemeClr val="hlink"/>
                      </a:solidFill>
                    </a:rPr>
                    <a:t>i</a:t>
                  </a:r>
                  <a:endParaRPr kumimoji="1" lang="en-US" altLang="zh-CN" sz="280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6" name="Rectangle 108"/>
                <p:cNvSpPr>
                  <a:spLocks noChangeArrowheads="1"/>
                </p:cNvSpPr>
                <p:nvPr/>
              </p:nvSpPr>
              <p:spPr bwMode="auto">
                <a:xfrm>
                  <a:off x="2058020" y="2248620"/>
                  <a:ext cx="42862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 i="1">
                      <a:solidFill>
                        <a:srgbClr val="FF0000"/>
                      </a:solidFill>
                    </a:rPr>
                    <a:t>j</a:t>
                  </a:r>
                  <a:endParaRPr kumimoji="1" lang="en-US" altLang="zh-CN" sz="28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7" name="Rectangle 109"/>
                <p:cNvSpPr>
                  <a:spLocks noChangeArrowheads="1"/>
                </p:cNvSpPr>
                <p:nvPr/>
              </p:nvSpPr>
              <p:spPr bwMode="auto">
                <a:xfrm>
                  <a:off x="3926508" y="2086695"/>
                  <a:ext cx="133350" cy="320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2100" b="1" i="1">
                      <a:solidFill>
                        <a:schemeClr val="hlink"/>
                      </a:solidFill>
                    </a:rPr>
                    <a:t>x</a:t>
                  </a:r>
                  <a:endParaRPr kumimoji="1" lang="en-US" altLang="zh-CN" sz="280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8" name="Rectangle 110"/>
                <p:cNvSpPr>
                  <a:spLocks noChangeArrowheads="1"/>
                </p:cNvSpPr>
                <p:nvPr/>
              </p:nvSpPr>
              <p:spPr bwMode="auto">
                <a:xfrm>
                  <a:off x="3720133" y="2086695"/>
                  <a:ext cx="119062" cy="320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2100" b="1" i="1">
                      <a:solidFill>
                        <a:schemeClr val="hlink"/>
                      </a:solidFill>
                    </a:rPr>
                    <a:t>y</a:t>
                  </a:r>
                  <a:endParaRPr kumimoji="1" lang="en-US" altLang="zh-CN" sz="280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9" name="Rectangle 111"/>
                <p:cNvSpPr>
                  <a:spLocks noChangeArrowheads="1"/>
                </p:cNvSpPr>
                <p:nvPr/>
              </p:nvSpPr>
              <p:spPr bwMode="auto">
                <a:xfrm>
                  <a:off x="2586658" y="2086695"/>
                  <a:ext cx="133350" cy="320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2100" b="1" i="1" dirty="0">
                      <a:solidFill>
                        <a:schemeClr val="hlink"/>
                      </a:solidFill>
                    </a:rPr>
                    <a:t>x</a:t>
                  </a:r>
                  <a:endParaRPr kumimoji="1" lang="en-US" altLang="zh-CN" sz="2800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30" name="Rectangle 112"/>
                <p:cNvSpPr>
                  <a:spLocks noChangeArrowheads="1"/>
                </p:cNvSpPr>
                <p:nvPr/>
              </p:nvSpPr>
              <p:spPr bwMode="auto">
                <a:xfrm>
                  <a:off x="1896095" y="2086695"/>
                  <a:ext cx="133350" cy="320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2100" b="1" i="1">
                      <a:solidFill>
                        <a:srgbClr val="FF0000"/>
                      </a:solidFill>
                    </a:rPr>
                    <a:t>a</a:t>
                  </a:r>
                  <a:endParaRPr kumimoji="1" lang="en-US" altLang="zh-CN" sz="28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1" name="Rectangle 113"/>
                <p:cNvSpPr>
                  <a:spLocks noChangeArrowheads="1"/>
                </p:cNvSpPr>
                <p:nvPr/>
              </p:nvSpPr>
              <p:spPr bwMode="auto">
                <a:xfrm>
                  <a:off x="1773858" y="2431182"/>
                  <a:ext cx="76200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>
                      <a:solidFill>
                        <a:srgbClr val="000000"/>
                      </a:solidFill>
                    </a:rPr>
                    <a:t>0</a:t>
                  </a:r>
                  <a:endParaRPr kumimoji="1" lang="en-US" altLang="zh-CN" sz="2800"/>
                </a:p>
              </p:txBody>
            </p:sp>
            <p:sp>
              <p:nvSpPr>
                <p:cNvPr id="32" name="Rectangle 114"/>
                <p:cNvSpPr>
                  <a:spLocks noChangeArrowheads="1"/>
                </p:cNvSpPr>
                <p:nvPr/>
              </p:nvSpPr>
              <p:spPr bwMode="auto">
                <a:xfrm>
                  <a:off x="3550270" y="2431182"/>
                  <a:ext cx="76200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>
                      <a:solidFill>
                        <a:srgbClr val="000000"/>
                      </a:solidFill>
                    </a:rPr>
                    <a:t>1</a:t>
                  </a:r>
                  <a:endParaRPr kumimoji="1" lang="en-US" altLang="zh-CN" sz="2800"/>
                </a:p>
              </p:txBody>
            </p:sp>
            <p:sp>
              <p:nvSpPr>
                <p:cNvPr id="33" name="Rectangle 115"/>
                <p:cNvSpPr>
                  <a:spLocks noChangeArrowheads="1"/>
                </p:cNvSpPr>
                <p:nvPr/>
              </p:nvSpPr>
              <p:spPr bwMode="auto">
                <a:xfrm>
                  <a:off x="2427908" y="2431182"/>
                  <a:ext cx="76200" cy="1825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1200" b="1">
                      <a:solidFill>
                        <a:srgbClr val="000000"/>
                      </a:solidFill>
                    </a:rPr>
                    <a:t>1</a:t>
                  </a:r>
                  <a:endParaRPr kumimoji="1" lang="en-US" altLang="zh-CN" sz="2800"/>
                </a:p>
              </p:txBody>
            </p:sp>
            <p:sp>
              <p:nvSpPr>
                <p:cNvPr id="34" name="Rectangle 116"/>
                <p:cNvSpPr>
                  <a:spLocks noChangeArrowheads="1"/>
                </p:cNvSpPr>
                <p:nvPr/>
              </p:nvSpPr>
              <p:spPr bwMode="auto">
                <a:xfrm>
                  <a:off x="1248395" y="2086695"/>
                  <a:ext cx="133350" cy="320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2100" b="1" dirty="0">
                      <a:solidFill>
                        <a:schemeClr val="hlink"/>
                      </a:solidFill>
                    </a:rPr>
                    <a:t>2</a:t>
                  </a:r>
                  <a:endParaRPr kumimoji="1" lang="en-US" altLang="zh-CN" sz="2800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35" name="AutoShape 117"/>
                <p:cNvSpPr>
                  <a:spLocks noChangeArrowheads="1"/>
                </p:cNvSpPr>
                <p:nvPr/>
              </p:nvSpPr>
              <p:spPr bwMode="auto">
                <a:xfrm>
                  <a:off x="2150095" y="1993032"/>
                  <a:ext cx="914400" cy="609600"/>
                </a:xfrm>
                <a:prstGeom prst="bracketPair">
                  <a:avLst>
                    <a:gd name="adj" fmla="val 12500"/>
                  </a:avLst>
                </a:prstGeom>
                <a:noFill/>
                <a:ln w="158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4297359" y="2060848"/>
                  <a:ext cx="417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=0</a:t>
                  </a:r>
                  <a:endParaRPr lang="zh-CN" altLang="en-US" dirty="0"/>
                </a:p>
              </p:txBody>
            </p:sp>
          </p:grpSp>
        </p:grpSp>
      </p:grpSp>
      <p:sp>
        <p:nvSpPr>
          <p:cNvPr id="38" name="TextBox 37"/>
          <p:cNvSpPr txBox="1"/>
          <p:nvPr/>
        </p:nvSpPr>
        <p:spPr>
          <a:xfrm>
            <a:off x="467544" y="1510050"/>
            <a:ext cx="379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k</a:t>
            </a:r>
            <a:r>
              <a:rPr lang="en-US" altLang="zh-CN" dirty="0"/>
              <a:t>,  we have the following formula:</a:t>
            </a:r>
            <a:endParaRPr lang="zh-CN" altLang="en-US" i="1" baseline="-25000" dirty="0"/>
          </a:p>
        </p:txBody>
      </p:sp>
      <p:sp>
        <p:nvSpPr>
          <p:cNvPr id="43" name="TextBox 42"/>
          <p:cNvSpPr txBox="1"/>
          <p:nvPr/>
        </p:nvSpPr>
        <p:spPr>
          <a:xfrm>
            <a:off x="467544" y="2996952"/>
            <a:ext cx="3039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thus compute the matrix :</a:t>
            </a:r>
            <a:endParaRPr lang="zh-CN" altLang="en-US" i="1" baseline="-25000" dirty="0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2627784" y="3645024"/>
          <a:ext cx="5304589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公式" r:id="rId1" imgW="2806700" imgH="685800" progId="Equation.3">
                  <p:embed/>
                </p:oleObj>
              </mc:Choice>
              <mc:Fallback>
                <p:oleObj name="公式" r:id="rId1" imgW="2806700" imgH="685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645024"/>
                        <a:ext cx="5304589" cy="12961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2987824" y="5157192"/>
          <a:ext cx="3456384" cy="1083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公式" r:id="rId3" imgW="1498600" imgH="469900" progId="Equation.3">
                  <p:embed/>
                </p:oleObj>
              </mc:Choice>
              <mc:Fallback>
                <p:oleObj name="公式" r:id="rId3" imgW="1498600" imgH="4699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5157192"/>
                        <a:ext cx="3456384" cy="10837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右箭头 45"/>
          <p:cNvSpPr/>
          <p:nvPr/>
        </p:nvSpPr>
        <p:spPr>
          <a:xfrm>
            <a:off x="1187624" y="5517232"/>
            <a:ext cx="122413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Eigen value of small matrix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Make use of characteristic polynomial to compute the </a:t>
            </a:r>
            <a:r>
              <a:rPr lang="en-US" altLang="zh-CN" dirty="0" err="1"/>
              <a:t>eigen</a:t>
            </a:r>
            <a:r>
              <a:rPr lang="en-US" altLang="zh-CN" dirty="0"/>
              <a:t> value of a matrix: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For a matrix A, its characteristic polynomial is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the determinant of matrix </a:t>
            </a:r>
            <a:r>
              <a:rPr lang="el-GR" altLang="zh-CN" dirty="0"/>
              <a:t>λ</a:t>
            </a:r>
            <a:r>
              <a:rPr lang="en-US" altLang="zh-CN" dirty="0"/>
              <a:t>I-A, denoted by  |</a:t>
            </a:r>
            <a:r>
              <a:rPr lang="el-GR" altLang="zh-CN" dirty="0"/>
              <a:t>λ</a:t>
            </a:r>
            <a:r>
              <a:rPr lang="en-US" altLang="zh-CN" dirty="0"/>
              <a:t>I-A|. The </a:t>
            </a:r>
            <a:r>
              <a:rPr lang="en-US" altLang="zh-CN" dirty="0" err="1"/>
              <a:t>eigen</a:t>
            </a:r>
            <a:r>
              <a:rPr lang="en-US" altLang="zh-CN" dirty="0"/>
              <a:t> values of A is the roots of its characteristic polynomial. 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Eigen value of small matrix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1"/>
          </p:nvPr>
        </p:nvGraphicFramePr>
        <p:xfrm>
          <a:off x="6444208" y="1962816"/>
          <a:ext cx="1167904" cy="1167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公式" r:id="rId1" imgW="469900" imgH="469900" progId="Equation.3">
                  <p:embed/>
                </p:oleObj>
              </mc:Choice>
              <mc:Fallback>
                <p:oleObj name="公式" r:id="rId1" imgW="469900" imgH="469900" progId="Equation.3">
                  <p:embed/>
                  <p:pic>
                    <p:nvPicPr>
                      <p:cNvPr id="0" name="内容占位符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1962816"/>
                        <a:ext cx="1167904" cy="11679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2322856"/>
            <a:ext cx="555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Compute the </a:t>
            </a:r>
            <a:r>
              <a:rPr lang="en-US" altLang="zh-CN" sz="2800" dirty="0" err="1"/>
              <a:t>eigen</a:t>
            </a:r>
            <a:r>
              <a:rPr lang="en-US" altLang="zh-CN" sz="2800" dirty="0"/>
              <a:t> values  of  Matrix</a:t>
            </a: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467544" y="1628800"/>
            <a:ext cx="17954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Problem: </a:t>
            </a:r>
            <a:endParaRPr lang="en-US" altLang="zh-CN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043608" y="3501008"/>
            <a:ext cx="4845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 characteristic polynomial is:</a:t>
            </a:r>
            <a:endParaRPr lang="zh-CN" altLang="en-US" sz="28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563888" y="4149080"/>
          <a:ext cx="302433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公式" r:id="rId3" imgW="1294765" imgH="215900" progId="Equation.3">
                  <p:embed/>
                </p:oleObj>
              </mc:Choice>
              <mc:Fallback>
                <p:oleObj name="公式" r:id="rId3" imgW="1294765" imgH="2159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149080"/>
                        <a:ext cx="3024336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16374" y="4644293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Then:</a:t>
            </a:r>
            <a:endParaRPr lang="zh-CN" altLang="en-US" sz="2800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172744" y="5068003"/>
          <a:ext cx="1424913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公式" r:id="rId5" imgW="711200" imgH="215900" progId="Equation.3">
                  <p:embed/>
                </p:oleObj>
              </mc:Choice>
              <mc:Fallback>
                <p:oleObj name="公式" r:id="rId5" imgW="711200" imgH="2159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744" y="5068003"/>
                        <a:ext cx="1424913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707904" y="5085184"/>
            <a:ext cx="3595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are its two </a:t>
            </a:r>
            <a:r>
              <a:rPr lang="en-US" altLang="zh-CN" sz="2800" dirty="0" err="1"/>
              <a:t>eign</a:t>
            </a:r>
            <a:r>
              <a:rPr lang="en-US" altLang="zh-CN" sz="2800" dirty="0"/>
              <a:t> values.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Round-off Error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036712"/>
              </a:xfrm>
            </p:spPr>
            <p:txBody>
              <a:bodyPr/>
              <a:lstStyle/>
              <a:p>
                <a:r>
                  <a:rPr lang="en-US" altLang="zh-CN" dirty="0"/>
                  <a:t>Derive a formula to 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036712"/>
              </a:xfrm>
              <a:blipFill rotWithShape="1">
                <a:blip r:embed="rId1"/>
                <a:stretch>
                  <a:fillRect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/>
              <p:cNvSpPr txBox="1"/>
              <p:nvPr/>
            </p:nvSpPr>
            <p:spPr>
              <a:xfrm>
                <a:off x="457200" y="2636913"/>
                <a:ext cx="8229600" cy="29523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dirty="0"/>
                  <a:t>    Hint: Taylor expansion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Answer: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36913"/>
                <a:ext cx="8229600" cy="2952328"/>
              </a:xfrm>
              <a:prstGeom prst="rect">
                <a:avLst/>
              </a:prstGeom>
              <a:blipFill rotWithShape="1">
                <a:blip r:embed="rId2"/>
                <a:stretch>
                  <a:fillRect t="-13" b="-34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Round-off Error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03671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CN" dirty="0"/>
                  <a:t>Given 5 significant digits,  derive a formula to compute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 when x = 10003,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036712"/>
              </a:xfrm>
              <a:blipFill rotWithShape="1">
                <a:blip r:embed="rId1"/>
                <a:stretch>
                  <a:fillRect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/>
              <p:cNvSpPr txBox="1"/>
              <p:nvPr/>
            </p:nvSpPr>
            <p:spPr>
              <a:xfrm>
                <a:off x="457200" y="2636913"/>
                <a:ext cx="8507288" cy="29523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dirty="0"/>
                  <a:t>    Hint: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020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015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005</m:t>
                    </m:r>
                  </m:oMath>
                </a14:m>
                <a:r>
                  <a:rPr lang="en-US" altLang="zh-CN" sz="2400" dirty="0"/>
                  <a:t> 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dirty="0"/>
                  <a:t>    Answer: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0049913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True value: 0.00499912523117984 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36913"/>
                <a:ext cx="8507288" cy="2952328"/>
              </a:xfrm>
              <a:prstGeom prst="rect">
                <a:avLst/>
              </a:prstGeom>
              <a:blipFill rotWithShape="1">
                <a:blip r:embed="rId2"/>
                <a:stretch>
                  <a:fillRect t="-13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Numerical Differentiation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Given three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altLang="zh-CN" dirty="0"/>
                  <a:t>  and their function values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 and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r>
                  <a:rPr lang="en-US" altLang="zh-CN" dirty="0"/>
                  <a:t> . Please derive the three-point numerical differentiation formula for function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dirty="0"/>
                  <a:t>at the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, including its approximation error. (12 pts)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IVP Problem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28800"/>
                <a:ext cx="8229600" cy="4525963"/>
              </a:xfrm>
            </p:spPr>
            <p:txBody>
              <a:bodyPr/>
              <a:lstStyle/>
              <a:p>
                <a:r>
                  <a:rPr lang="en-US" altLang="zh-CN" dirty="0"/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d>
                      <m:dPr>
                        <m:ctrl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for solving IVP of ODE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that has the best local truncation error, and find out the leading term of the local truncation error.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28800"/>
                <a:ext cx="8229600" cy="4525963"/>
              </a:xfrm>
              <a:blipFill rotWithShape="1">
                <a:blip r:embed="rId1"/>
                <a:stretch>
                  <a:fillRect t="-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IVP Problem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Hint: Taylor expansion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75843" y="4086679"/>
                <a:ext cx="2551339" cy="492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43" y="4086679"/>
                <a:ext cx="2551339" cy="492764"/>
              </a:xfrm>
              <a:prstGeom prst="rect">
                <a:avLst/>
              </a:prstGeom>
              <a:blipFill rotWithShape="1">
                <a:blip r:embed="rId1"/>
                <a:stretch>
                  <a:fillRect l="-21" t="-92" r="-555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75843" y="4752376"/>
                <a:ext cx="7378302" cy="995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ℎ</m:t>
                    </m:r>
                    <m:sSubSup>
                      <m:sSub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3200" dirty="0"/>
                  <a:t> </a:t>
                </a:r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bSup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/>
              </a:p>
              <a:p>
                <a:endParaRPr lang="zh-CN" altLang="en-US" sz="32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43" y="4752376"/>
                <a:ext cx="7378302" cy="995144"/>
              </a:xfrm>
              <a:prstGeom prst="rect">
                <a:avLst/>
              </a:prstGeom>
              <a:blipFill rotWithShape="1">
                <a:blip r:embed="rId2"/>
                <a:stretch>
                  <a:fillRect l="-7" t="-4" r="2" b="-1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75843" y="3215285"/>
                <a:ext cx="7461915" cy="6984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ℎ𝑦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bSup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43" y="3215285"/>
                <a:ext cx="7461915" cy="698461"/>
              </a:xfrm>
              <a:prstGeom prst="rect">
                <a:avLst/>
              </a:prstGeom>
              <a:blipFill rotWithShape="1">
                <a:blip r:embed="rId3"/>
                <a:stretch>
                  <a:fillRect l="-7" t="-40" r="8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91936" y="2331228"/>
                <a:ext cx="7461915" cy="6984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ℎ𝑦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36" y="2331228"/>
                <a:ext cx="7461915" cy="698461"/>
              </a:xfrm>
              <a:prstGeom prst="rect">
                <a:avLst/>
              </a:prstGeom>
              <a:blipFill rotWithShape="1">
                <a:blip r:embed="rId4"/>
                <a:stretch>
                  <a:fillRect l="-2" t="-20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91936" y="5837272"/>
                <a:ext cx="4608512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36" y="5837272"/>
                <a:ext cx="4608512" cy="524824"/>
              </a:xfrm>
              <a:prstGeom prst="rect">
                <a:avLst/>
              </a:prstGeom>
              <a:blipFill rotWithShape="1">
                <a:blip r:embed="rId5"/>
                <a:stretch>
                  <a:fillRect l="-3" t="-67" r="9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2349</Words>
  <Application>WPS 演示</Application>
  <PresentationFormat>全屏显示(4:3)</PresentationFormat>
  <Paragraphs>172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宋体</vt:lpstr>
      <vt:lpstr>Wingdings</vt:lpstr>
      <vt:lpstr>Symbol</vt:lpstr>
      <vt:lpstr>Cambria Math</vt:lpstr>
      <vt:lpstr>Calibri</vt:lpstr>
      <vt:lpstr>微软雅黑</vt:lpstr>
      <vt:lpstr>Arial Unicode MS</vt:lpstr>
      <vt:lpstr>Office 主题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Excercises</vt:lpstr>
      <vt:lpstr>Solution of Equations</vt:lpstr>
      <vt:lpstr>Solution of Equations</vt:lpstr>
      <vt:lpstr>Least Squares</vt:lpstr>
      <vt:lpstr>Least Squares</vt:lpstr>
      <vt:lpstr>Eigen value of small matrix</vt:lpstr>
      <vt:lpstr>Eigen value of small matrix</vt:lpstr>
      <vt:lpstr>Round-off Error</vt:lpstr>
      <vt:lpstr>Round-off Error</vt:lpstr>
      <vt:lpstr>Numerical Differentiation</vt:lpstr>
      <vt:lpstr>IVP Problem</vt:lpstr>
      <vt:lpstr>IVP Problem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Excercises</dc:title>
  <dc:creator>Administrator</dc:creator>
  <cp:lastModifiedBy>周转</cp:lastModifiedBy>
  <cp:revision>49</cp:revision>
  <dcterms:created xsi:type="dcterms:W3CDTF">2017-01-04T02:31:00Z</dcterms:created>
  <dcterms:modified xsi:type="dcterms:W3CDTF">2026-01-15T06:28:59Z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C0E083540507498AB9392FBF14B64AB5_12</vt:lpwstr>
  </property>
  <property fmtid="{D5CDD505-2E9C-101B-9397-08002B2CF9AE}" pid="3" name="KSOProductBuildVer">
    <vt:lpwstr>2052-12.1.0.23542</vt:lpwstr>
  </property>
</Properties>
</file>